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· Layout #1
Estil: editorial coherent amb brand-guidelines-ave-maria.html v2.0.
Composició:
• Fons: mosaic generatiu de l'isotip al 7% d'opacitat (esquerra→dreta amb formes geomètriques de la marca).
• Wordmark superior esquerra (12pt bold + 9pt regular per a "Fundació · Sitges").
• Eyebrow taronja "00 — PLANTILLA · v1.1" amb separador em-dash.
• Títol massiu 64pt: combina pes Light ("Brand") + Bold ("Guidelines.") amb char-spacing apretat (-2).
• Subtítol breu, gris, max 8.5" d'ample.
Accessibilitat WCAG 2.2 AA:
• Text negre sobre fons blanc (mosaic 7%) → contrast efectiu ≥16:1 ✓
• Eyebrow taronja-ink sobre blanc → 4.85:1 ✓
• Subtítol gris-600 sobre blanc → 5.74:1 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ALTERNATIVA · Layout #2
Versió més sòbria que la #1 — sense mosaic, només tipografia centrada.
Composició:
• Sobretítol 10pt taronja-ink amb tracking ampli (6).
• Títol massiu "Ave Maria." 110pt bold tinta amb char-spacing apretat (-3).
• Línia divisòria de 0.5" en taronja (detall editorial).
• Subtítol 14pt gris-600.
Quan usar: portades formals, memòries anuals, informes interns. Quan vols sobrietat absoluta.
Accessibilitat: tots els textos sobre blanc passen AA amb marge.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SEPARADOR DE SECCIÓ · Layout #3
Estil editorial — ZERO fons a color complet (a diferència de plantilles habituals).
Composició:
• Número massiu "01" 480pt en color GRIS-100 (quasi blanc) com a element gegantí decoratiu.
• Eyebrow + títol + lead a la dreta, amb la mateixa jerarquia que les pàgines internes — així el lector sap que entra en un capítol però mantenim respiració.
• Punt taronja final al títol (detall editorial recurrent).
Accessibilitat:
• Tinta sobre blanc: 17.4:1 ✓
• El número gegant gris-100 és decoratiu (NO transmet informació), no necessita contrast.
• Eyebrow taronja-ink: 4.85:1 ✓
Variants: per a SECCIÓ 02, 03... canviar només el número. El estil es repeteix.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CONTINGUT BASE · Layout #4
El layout més freqüent. Combina eyebrow + títol + lead + body + imatge.
Composició editorial pura (estil v2.0):
• Eyebrow "01 — QUI SOM" 11pt taronja amb separador em-dash.
• Títol 44pt amb mecànica Light + Bold + punt color (signature de la marca).
• Lead 18pt en tinta (paràgraf d'introducció amb pes).
• Body 14pt en gris-600 amb line-height 1.7 (text de cos relaxat).
• Imatge a la dreta 5.2 × 5.5" amb caption en cursiva 9pt gris-500.
Jerarquia tipogràfica: Eyebrow → Títol → Lead → Body. Mai trencar aquest ordre.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DUES COLUMNES · Layout #5
Estil editorial: numeració gran ("01", "02") com a marcador en color de marca.
Composició:
• Encapçalament: eyebrow + títol + descripció.
• Dues columnes amb número 32pt en color (taronja, verd-ink).
• Mini-títol 22pt bold tinta + body 14pt gris.
• Línia divisòria de 1px gris-200 al centre — NO bandes gruixudes de color (estil sòbri editorial).
Accessibilitat: tots els textos en tinta o gris-600 sobre blanc, ratios ≥5.74:1 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CARDS · Layout #6
Estil editorial coherent amb les "value-cards" de brand-guidelines-ave-maria.html.
Composició:
• Card amb fons gris-100 i border-radius 12% (≈16pt).
• Icon-box 56×56 en color de marca, cantonades arrodonides — NO cercles.
• La icona blanca dins el quadrat de color.
• Títol alineat a l'esquerra (no centrat) — més editorial.
• Body 13pt gris-600 amb line-height 1.6.
Accessibilitat:
• Icones decoratives, acompanyades de text que ja explica.
• Contrast text gris-600 sobre fons gris-100: 5.0:1 ✓
• Els colors dels icon-boxes són decoratius — el significat es comunica pel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CITA · Layout #7
Estil editorial pur: blockquote amb border-left 4px taronja, italic, sobre blanc.
Composició:
• Eyebrow + títol amb la mateixa pauta de la resta (no slide especial).
• Línia taronja 4px a l'esquerra com a indicador de cita (signature de la marca).
• Cita en italic 26pt tinta — el contrast amb la resta de tipografia ve del italic, no del color de fons.
• Autoria amb nom (bold) + rol (gris-600).
Per què canviem respecte el patró habitual: les guidelines v2.0 NO usen fons full-color per a cites. Mantenir la coherència editorial.
Accessibilitat:
• Tinta italic sobre blanc: 17.4:1 ✓
• Per als usuaris amb dislèxia, els italics poden ser més difícils. Si el text és llarg, considerar reduir a 22pt o usar pes regular.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STATS · Layout #8
Comunicar impacte amb 3 xifres grans.
Composició:
• Numerals 110pt bold tinta — el sufix (+, %) en color de marca però sempre en versió "ink" per garantir contrast com a element gran.
• Labels en majúscules 11pt gris-600 amb tracking 4 (estil pell.de marca).
• Font clarament citada al peu.
Accessibilitat:
• Xifres tinta sobre blanc: 17.4:1 ✓
• Sufix en versió "ink" (taronja-ink, coral-ink, verd-ink) — passa AA com a text gran (4.5+:1 sobre blanc).
• Label gris-600 sobre blanc: 5.74:1 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· Layout #9
Línia horitzontal amb 5 fites — colors "ink" garanteixen contrast AA.
Accessibilitat: anys en colors ink (≥4.7:1 sobre blanc), text 12pt gris-800 (7:1 sobre blanc) ✓.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EQUIP · Layout #10
Avatars com a quadrats arrodonits (rectRadius 0.18) — coherent amb les icon-boxes editorials, NO cercles.
Quan es substitueixen per fotografies reals, mantenir la mateixa proporció quadrada amb cantonades suaus.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IMATGE FULL-BLEED · Layout #11
ÚNIC slide amb fons no-blanc (estil editorial: la imatge ho justifica).
Composició:
• Imatge cobreix tota la diapositiva (placeholder coral + caixa blanca per marcar substitució).
• Dark-box arrodonit (radius 0.06") al baix conté el text — NO és un overlay full-bleed, és una caixa flotant amb marges.
• Eyebrow + títol + subtítol dins la dark-box, blanc sobre tinta.
Per què caixa flotant i no overlay:
• És més editorial i menys "hero web".
• El text manté ALWAYS contrast 17.4:1 sobre tinta, independentment de la imatge.
Accessibilitat:
• Blanc sobre tinta: 17.4:1 ✓
• Gris-300 sobre tinta: 9.5:1 ✓
• La imatge real ha de portar altText descriptiu.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COMPARACIÓ · Layout #12
Les dues caixes amb radius 0.18 (cantonades arrodonides editorials, no rectangles plans).
Diferència de pes visual:
• ABANS: soft card gris-100 (estat passat, quiet).
• AVUI: dark box tinta (present, contrast).
• Fletxa al centre dins cercle taronja com a indicador de transformació.
Accessibilitat:
• Tinta sobre gris-100: 16:1 ✓
• Blanc sobre tinta: 17.4:1 ✓
• Gris-300 sobre tinta: 9.5:1 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CTA · Layout #13
Estil editorial: dark-box central sobre fons blanc (en lloc d'un slide tot tinta).
Composició:
• Fons blanc amb mosaic suau a la dreta com a textura.
• Dark-box gran arrodonit (radius 0.18) conté tot el missatge — el contrast amb el fons blanc fa l'enfocament visual.
• Botó taronja amb radius pronunciat (pill shape).
Accessibilitat:
• Blanc sobre tinta: 17.4:1 ✓
• Taronja sobre tinta: 4.5:1 ✓ (text gran, AA)
• Gris-300 sobre tinta: 9.5:1 ✓
• Botó: blanc sobre taronja com a text gran/bold passa AA.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· Layout #14
Mateixa pauta editorial que la portada (mosaic 7%) — així el deck obre i tanca amb el mateix llenguatge visual.
Composició:
• Mosaic generatiu de fons al 7%.
• "Gràcies" 200pt amb mecànica Light + Bold + punt taronja.
• Línia divisòria 0.5" en taronja (recurrent en portades).
• Subtítol breu 16pt gris-600.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CONTACTE · Layout #15
Soft cards amb radius 0.12 (estil editorial) i línia d'accent superior breu (0.5") en color de marca.
Iconografia en versions "ink" (taronja-ink, coral-ink, verd-ink) per garantir AA.
Accessibilitat:
• Tinta sobre gris-100 card: 16:1 ✓
• Gris-800 sobre gris-100: 6.6:1 ✓
• Icones en colors ink ≥4.5:1 ✓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94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 MARIA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Fundació · Sitges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4008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00</a:t>
            </a:r>
            <a:pPr indent="0" marL="0">
              <a:buNone/>
            </a:pPr>
            <a:r>
              <a:rPr lang="en-US" sz="1100" b="1" spc="300" kern="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—   </a:t>
            </a:r>
            <a:pPr indent="0" marL="0">
              <a:buNone/>
            </a:pPr>
            <a:r>
              <a:rPr lang="en-US" sz="1100" b="1" spc="3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PLANTILLA · V1.1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402336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0" spc="-2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</a:t>
            </a:r>
            <a:endParaRPr lang="en-US" sz="6400" dirty="0"/>
          </a:p>
          <a:p>
            <a:pPr indent="0" marL="0">
              <a:buNone/>
            </a:pPr>
            <a:r>
              <a:rPr lang="en-US" sz="6400" b="1" spc="-2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Guidelines.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640080" y="5897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Plantilla mestra reutilitzable per a presentacions institucionals. Coherent amb el manual d'identitat visual v2.0.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6547104"/>
            <a:ext cx="11094415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6647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 MARIA</a:t>
            </a:r>
            <a:pPr indent="0" marL="0">
              <a:buNone/>
            </a:pPr>
            <a:r>
              <a:rPr lang="en-US" sz="800" spc="1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Fundació · Sitges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0637215" y="66476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0312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6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FUNDACIÓ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651760"/>
            <a:ext cx="1219169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spc="-3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 Maria.</a:t>
            </a:r>
            <a:endParaRPr lang="en-US" sz="11000" dirty="0"/>
          </a:p>
        </p:txBody>
      </p:sp>
      <p:sp>
        <p:nvSpPr>
          <p:cNvPr id="4" name="Shape 2"/>
          <p:cNvSpPr/>
          <p:nvPr/>
        </p:nvSpPr>
        <p:spPr>
          <a:xfrm>
            <a:off x="5867248" y="4434840"/>
            <a:ext cx="457200" cy="22860"/>
          </a:xfrm>
          <a:prstGeom prst="rect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7091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Memòria 2025 · Acompanyem persones, transformem vides.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6547104"/>
            <a:ext cx="11094415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47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 MARIA</a:t>
            </a:r>
            <a:pPr indent="0" marL="0">
              <a:buNone/>
            </a:pPr>
            <a:r>
              <a:rPr lang="en-US" sz="800" spc="1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Fundació · Sitges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637215" y="66476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685800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0" b="1" spc="-800" kern="0" dirty="0">
                <a:solidFill>
                  <a:srgbClr val="F5F5F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8000" dirty="0"/>
          </a:p>
        </p:txBody>
      </p:sp>
      <p:sp>
        <p:nvSpPr>
          <p:cNvPr id="3" name="Text 1"/>
          <p:cNvSpPr/>
          <p:nvPr/>
        </p:nvSpPr>
        <p:spPr>
          <a:xfrm>
            <a:off x="68580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SECCIÓ 01</a:t>
            </a:r>
            <a:pPr indent="0" marL="0">
              <a:buNone/>
            </a:pPr>
            <a:r>
              <a:rPr lang="en-US" sz="1100" b="1" spc="300" kern="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—   </a:t>
            </a:r>
            <a:pPr indent="0" marL="0">
              <a:buNone/>
            </a:pPr>
            <a:r>
              <a:rPr lang="en-US" sz="1100" b="1" spc="3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 SOM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0" y="310896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spc="-15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 </a:t>
            </a:r>
            <a:pPr indent="0" marL="0">
              <a:buNone/>
            </a:pPr>
            <a:r>
              <a:rPr lang="en-US" sz="6400" b="1" spc="-15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</a:t>
            </a:r>
            <a:pPr indent="0" marL="0">
              <a:buNone/>
            </a:pPr>
            <a:r>
              <a:rPr lang="en-US" sz="6400" b="1" spc="-150" kern="0" dirty="0">
                <a:solidFill>
                  <a:srgbClr val="E88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858000" y="443484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fundació amb 39 anys d'història al servei de les persones amb diversitat funcional al Garraf.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6547104"/>
            <a:ext cx="11094415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647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 MARIA</a:t>
            </a:r>
            <a:pPr indent="0" marL="0">
              <a:buNone/>
            </a:pPr>
            <a:r>
              <a:rPr lang="en-US" sz="800" spc="1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Fundació · Sitges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637215" y="66476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pPr indent="0" marL="0">
              <a:buNone/>
            </a:pPr>
            <a:r>
              <a:rPr lang="en-US" sz="1100" b="1" spc="300" kern="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—   </a:t>
            </a:r>
            <a:pPr indent="0" marL="0">
              <a:buNone/>
            </a:pPr>
            <a:r>
              <a:rPr lang="en-US" sz="1100" b="1" spc="3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 SOM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spc="-1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nostra </a:t>
            </a:r>
            <a:pPr indent="0" marL="0">
              <a:buNone/>
            </a:pPr>
            <a:r>
              <a:rPr lang="en-US" sz="4400" b="1" spc="-1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missió</a:t>
            </a:r>
            <a:pPr indent="0" marL="0">
              <a:buNone/>
            </a:pPr>
            <a:r>
              <a:rPr lang="en-US" sz="4400" b="1" spc="-100" kern="0" dirty="0">
                <a:solidFill>
                  <a:srgbClr val="E88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Garantim la qualitat de vida de les persones amb diversitat funcional, potenciant les seves capacitats i acompanyant-les al llarg del seu projecte vital.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0233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Treballem des de 1987 a Sitges i comarca del Garraf, oferint serveis residencials, ocupacionals i d'acompanyament a més de 800 persones cada any.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766560" y="960120"/>
            <a:ext cx="4754880" cy="5029200"/>
          </a:xfrm>
          <a:prstGeom prst="rect">
            <a:avLst/>
          </a:prstGeom>
          <a:solidFill>
            <a:srgbClr val="FAFAFA"/>
          </a:solidFill>
          <a:ln w="12700">
            <a:solidFill>
              <a:srgbClr val="E5E5E5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6766560" y="960120"/>
            <a:ext cx="475488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◇</a:t>
            </a:r>
            <a:endParaRPr lang="en-US" sz="2200" dirty="0"/>
          </a:p>
          <a:p>
            <a:pPr algn="ctr" indent="0" marL="0">
              <a:buNone/>
            </a:pPr>
            <a:r>
              <a:rPr lang="en-US" sz="900" b="1" spc="4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IMATGE  ·  16 × 12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766560" y="6035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Centre Ocupacional · Sitges,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6547104"/>
            <a:ext cx="11094415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647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 MARIA</a:t>
            </a:r>
            <a:pPr indent="0" marL="0">
              <a:buNone/>
            </a:pPr>
            <a:r>
              <a:rPr lang="en-US" sz="800" spc="1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Fundació · Sitges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637215" y="66476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pPr indent="0" marL="0">
              <a:buNone/>
            </a:pPr>
            <a:r>
              <a:rPr lang="en-US" sz="1100" b="1" spc="300" kern="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—   </a:t>
            </a:r>
            <a:pPr indent="0" marL="0">
              <a:buNone/>
            </a:pPr>
            <a:r>
              <a:rPr lang="en-US" sz="1100" b="1" spc="3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ENFOC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Dos pilars, una </a:t>
            </a:r>
            <a:pPr indent="0" marL="0">
              <a:buNone/>
            </a:pPr>
            <a:r>
              <a:rPr lang="en-US" sz="4000" b="1" spc="-1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mateixa missió</a:t>
            </a:r>
            <a:pPr indent="0" marL="0">
              <a:buNone/>
            </a:pPr>
            <a:r>
              <a:rPr lang="en-US" sz="4000" b="1" spc="-100" kern="0" dirty="0">
                <a:solidFill>
                  <a:srgbClr val="E88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fundació estructura la seva activitat al voltant de dos eixos complementaris.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8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Acompanyament directe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Serveis residencials i ocupacionals que ofereixen suport diari, des de la llar fins a l'activitat productiva. Equips professionals especialitzats acompanyen cada persona en el seu projecte vital.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6B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0" y="3383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Innovació social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0" y="397764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Investiguem i implementem noves metodologies. Des de programes terapèutics fins a iniciatives d'inclusió laboral, treballem per ampliar l'horitzó del que és possible per a cada persona.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89904" y="2743200"/>
            <a:ext cx="4572" cy="338328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6547104"/>
            <a:ext cx="11094415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647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 MARIA</a:t>
            </a:r>
            <a:pPr indent="0" marL="0">
              <a:buNone/>
            </a:pPr>
            <a:r>
              <a:rPr lang="en-US" sz="800" spc="1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Fundació · Sitges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637215" y="66476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pPr indent="0" marL="0">
              <a:buNone/>
            </a:pPr>
            <a:r>
              <a:rPr lang="en-US" sz="1100" b="1" spc="300" kern="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—   </a:t>
            </a:r>
            <a:pPr indent="0" marL="0">
              <a:buNone/>
            </a:pPr>
            <a:r>
              <a:rPr lang="en-US" sz="1100" b="1" spc="3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VALORS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que </a:t>
            </a:r>
            <a:pPr indent="0" marL="0">
              <a:buNone/>
            </a:pPr>
            <a:r>
              <a:rPr lang="en-US" sz="4000" b="1" spc="-1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 guia</a:t>
            </a:r>
            <a:pPr indent="0" marL="0">
              <a:buNone/>
            </a:pPr>
            <a:r>
              <a:rPr lang="en-US" sz="4000" b="1" spc="-100" kern="0" dirty="0">
                <a:solidFill>
                  <a:srgbClr val="E88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448" y="237744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0928" y="2788920"/>
            <a:ext cx="713232" cy="713232"/>
          </a:xfrm>
          <a:prstGeom prst="roundRect">
            <a:avLst>
              <a:gd name="adj" fmla="val 23077"/>
            </a:avLst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5520" y="295351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0928" y="3794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Respecte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0928" y="43891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dignitat de cada persona és el centre de tot el que fem.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58488" y="237744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69968" y="2788920"/>
            <a:ext cx="713232" cy="713232"/>
          </a:xfrm>
          <a:prstGeom prst="roundRect">
            <a:avLst>
              <a:gd name="adj" fmla="val 23077"/>
            </a:avLst>
          </a:prstGeom>
          <a:solidFill>
            <a:srgbClr val="2D936C"/>
          </a:solidFill>
          <a:ln w="12700">
            <a:solidFill>
              <a:srgbClr val="2D936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560" y="295351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69968" y="3794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Diversitat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769968" y="43891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Acollim la riquesa de les diferències com a font d'aprenentatge.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07528" y="2377440"/>
            <a:ext cx="3474720" cy="3291840"/>
          </a:xfrm>
          <a:prstGeom prst="roundRect">
            <a:avLst>
              <a:gd name="adj" fmla="val 333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519008" y="2788920"/>
            <a:ext cx="713232" cy="713232"/>
          </a:xfrm>
          <a:prstGeom prst="roundRect">
            <a:avLst>
              <a:gd name="adj" fmla="val 23077"/>
            </a:avLst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3600" y="2953512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19008" y="3794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Arrelament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519008" y="43891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Construïm un projecte de territori, profundament local.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6547104"/>
            <a:ext cx="11094415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6647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 MARIA</a:t>
            </a:r>
            <a:pPr indent="0" marL="0">
              <a:buNone/>
            </a:pPr>
            <a:r>
              <a:rPr lang="en-US" sz="800" spc="1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Fundació · Sitges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10637215" y="66476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pPr indent="0" marL="0">
              <a:buNone/>
            </a:pPr>
            <a:r>
              <a:rPr lang="en-US" sz="1100" b="1" spc="300" kern="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—   </a:t>
            </a:r>
            <a:pPr indent="0" marL="0">
              <a:buNone/>
            </a:pPr>
            <a:r>
              <a:rPr lang="en-US" sz="1100" b="1" spc="3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VEU DE MARCA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-1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Acompanyem </a:t>
            </a:r>
            <a:pPr indent="0" marL="0">
              <a:buNone/>
            </a:pPr>
            <a:r>
              <a:rPr lang="en-US" sz="3600" b="1" spc="-1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persones</a:t>
            </a:r>
            <a:pPr indent="0" marL="0">
              <a:buNone/>
            </a:pPr>
            <a:r>
              <a:rPr lang="en-US" sz="3600" b="1" spc="-100" kern="0" dirty="0">
                <a:solidFill>
                  <a:srgbClr val="E88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97280" y="2926080"/>
            <a:ext cx="54864" cy="2560320"/>
          </a:xfrm>
          <a:prstGeom prst="rect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29260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600" i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la fundació he trobat un lloc on em sento escoltada i puc créixer al meu ritme. Aquí no se'm jutja; se'm acompanya.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417320" y="5212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Maria P.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Usuària del Centre Ocupacional · 6 anys a la fundació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6547104"/>
            <a:ext cx="11094415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647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 MARIA</a:t>
            </a:r>
            <a:pPr indent="0" marL="0">
              <a:buNone/>
            </a:pPr>
            <a:r>
              <a:rPr lang="en-US" sz="800" spc="1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Fundació · Sitges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0637215" y="66476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pPr indent="0" marL="0">
              <a:buNone/>
            </a:pPr>
            <a:r>
              <a:rPr lang="en-US" sz="1100" b="1" spc="300" kern="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—   </a:t>
            </a:r>
            <a:pPr indent="0" marL="0">
              <a:buNone/>
            </a:pPr>
            <a:r>
              <a:rPr lang="en-US" sz="1100" b="1" spc="3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spc="-1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Dades del </a:t>
            </a:r>
            <a:pPr indent="0" marL="0">
              <a:buNone/>
            </a:pPr>
            <a:r>
              <a:rPr lang="en-US" sz="4000" b="1" spc="-1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</a:t>
            </a:r>
            <a:pPr indent="0" marL="0">
              <a:buNone/>
            </a:pPr>
            <a:r>
              <a:rPr lang="en-US" sz="4000" b="1" spc="-100" kern="0" dirty="0">
                <a:solidFill>
                  <a:srgbClr val="E88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Tres xifres que resumeixen un any de feina al servei del nostre territori.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0848" y="32918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0" b="1" spc="-3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800</a:t>
            </a:r>
            <a:pPr algn="ctr" indent="0" marL="0">
              <a:buNone/>
            </a:pPr>
            <a:r>
              <a:rPr lang="en-US" sz="11000" b="1" spc="-3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380848" y="4846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BENEFICIARIS ATESOS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67048" y="32918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0" b="1" spc="-3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</a:t>
            </a:r>
            <a:pPr algn="ctr" indent="0" marL="0">
              <a:buNone/>
            </a:pP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4267048" y="4846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ANYS D'EXPERIÈNCIA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153248" y="32918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0" b="1" spc="-3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120</a:t>
            </a:r>
            <a:pPr algn="ctr" indent="0" marL="0">
              <a:buNone/>
            </a:pPr>
            <a:endParaRPr lang="en-US" sz="11000" dirty="0"/>
          </a:p>
        </p:txBody>
      </p:sp>
      <p:sp>
        <p:nvSpPr>
          <p:cNvPr id="10" name="Text 8"/>
          <p:cNvSpPr/>
          <p:nvPr/>
        </p:nvSpPr>
        <p:spPr>
          <a:xfrm>
            <a:off x="8153248" y="4846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VOLUNTARIS ACTIUS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61264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Font: Memòria anual 2025, Fundació Ave Maria.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6547104"/>
            <a:ext cx="11094415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647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 MARIA</a:t>
            </a:r>
            <a:pPr indent="0" marL="0">
              <a:buNone/>
            </a:pPr>
            <a:r>
              <a:rPr lang="en-US" sz="800" spc="1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Fundació · Sitges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0637215" y="66476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pPr indent="0" marL="0">
              <a:buNone/>
            </a:pPr>
            <a:r>
              <a:rPr lang="en-US" sz="1100" b="1" spc="300" kern="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—   </a:t>
            </a:r>
            <a:pPr indent="0" marL="0">
              <a:buNone/>
            </a:pPr>
            <a:r>
              <a:rPr lang="en-US" sz="1100" b="1" spc="3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HISTÒRIA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spc="-1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39 anys </a:t>
            </a:r>
            <a:pPr indent="0" marL="0">
              <a:buNone/>
            </a:pPr>
            <a:r>
              <a:rPr lang="en-US" sz="4000" spc="-1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fundació.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914400" y="4023360"/>
            <a:ext cx="10362895" cy="22860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35608" y="3922776"/>
            <a:ext cx="237744" cy="237744"/>
          </a:xfrm>
          <a:prstGeom prst="ellipse">
            <a:avLst/>
          </a:prstGeom>
          <a:solidFill>
            <a:srgbClr val="B8651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08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1987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4434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Fundació a Sitges per famílies.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06292" y="3922776"/>
            <a:ext cx="237744" cy="237744"/>
          </a:xfrm>
          <a:prstGeom prst="ellipse">
            <a:avLst/>
          </a:prstGeom>
          <a:solidFill>
            <a:srgbClr val="B0334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27884" y="3108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033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1995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27884" y="4434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Primer Centre Ocupacional al Garraf.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76976" y="3922776"/>
            <a:ext cx="237744" cy="237744"/>
          </a:xfrm>
          <a:prstGeom prst="ellipse">
            <a:avLst/>
          </a:prstGeom>
          <a:solidFill>
            <a:srgbClr val="1F6B4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98568" y="3108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6B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998568" y="4434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Entitat d'utilitat pública.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47659" y="3922776"/>
            <a:ext cx="237744" cy="237744"/>
          </a:xfrm>
          <a:prstGeom prst="ellipse">
            <a:avLst/>
          </a:prstGeom>
          <a:solidFill>
            <a:srgbClr val="2E7B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251" y="3108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BA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2018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269251" y="4434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Nova residència de 24 places.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8343" y="3922776"/>
            <a:ext cx="237744" cy="237744"/>
          </a:xfrm>
          <a:prstGeom prst="ellipse">
            <a:avLst/>
          </a:prstGeom>
          <a:solidFill>
            <a:srgbClr val="B8651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39935" y="3108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539935" y="44348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Portal digital accessible.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6547104"/>
            <a:ext cx="11094415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647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 MARIA</a:t>
            </a:r>
            <a:pPr indent="0" marL="0">
              <a:buNone/>
            </a:pPr>
            <a:r>
              <a:rPr lang="en-US" sz="800" spc="1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Fundació · Sitges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637215" y="66476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pPr indent="0" marL="0">
              <a:buNone/>
            </a:pPr>
            <a:r>
              <a:rPr lang="en-US" sz="1100" b="1" spc="300" kern="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—   </a:t>
            </a:r>
            <a:pPr indent="0" marL="0">
              <a:buNone/>
            </a:pPr>
            <a:r>
              <a:rPr lang="en-US" sz="1100" b="1" spc="3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-1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Persones que </a:t>
            </a:r>
            <a:pPr indent="0" marL="0">
              <a:buNone/>
            </a:pPr>
            <a:r>
              <a:rPr lang="en-US" sz="3600" b="1" spc="-1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fan possible</a:t>
            </a:r>
            <a:pPr indent="0" marL="0">
              <a:buNone/>
            </a:pPr>
            <a:r>
              <a:rPr lang="en-US" sz="3600" spc="-1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la fundació.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203808" y="26060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3808" y="26060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46608" y="4389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Marta Riera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6608" y="4800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Directora general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947008" y="26060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47008" y="26060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JV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89808" y="4389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Jordi Valls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89808" y="4800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Resp. C. Ocupacional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90208" y="26060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2D936C"/>
          </a:solidFill>
          <a:ln w="12700">
            <a:solidFill>
              <a:srgbClr val="2D93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90208" y="26060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CN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233008" y="4389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Clara Noguera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33008" y="4800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Treballadora social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433408" y="26060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33408" y="26060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8976208" y="4389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Albert Sala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76208" y="4800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Coord. residencial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6547104"/>
            <a:ext cx="11094415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6647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 MARIA</a:t>
            </a:r>
            <a:pPr indent="0" marL="0">
              <a:buNone/>
            </a:pPr>
            <a:r>
              <a:rPr lang="en-US" sz="800" spc="1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Fundació · Sitges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637215" y="66476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5D7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31920" y="1691640"/>
            <a:ext cx="4297680" cy="502920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0" y="1691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◇   IMATGE FULL-BLEED  ·  Substituir per ≥1920×1080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4297680"/>
            <a:ext cx="10911535" cy="2103120"/>
          </a:xfrm>
          <a:prstGeom prst="roundRect">
            <a:avLst>
              <a:gd name="adj" fmla="val 260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pPr indent="0" marL="0">
              <a:buNone/>
            </a:pPr>
            <a:r>
              <a:rPr lang="en-US" sz="1100" b="1" spc="300" kern="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—   </a:t>
            </a:r>
            <a:pPr indent="0" marL="0">
              <a:buNone/>
            </a:pPr>
            <a:r>
              <a:rPr lang="en-US" sz="1100" b="1" spc="300" kern="0" dirty="0">
                <a:solidFill>
                  <a:srgbClr val="E88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CENTRE OCUPACIONAL · SITGES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4846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-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matí, </a:t>
            </a:r>
            <a:pPr indent="0" marL="0">
              <a:buNone/>
            </a:pPr>
            <a:r>
              <a:rPr lang="en-US" sz="3200" b="1" spc="-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nova oportunitat</a:t>
            </a:r>
            <a:pPr indent="0" marL="0">
              <a:buNone/>
            </a:pPr>
            <a:r>
              <a:rPr lang="en-US" sz="3200" b="1" spc="-100" kern="0" dirty="0">
                <a:solidFill>
                  <a:srgbClr val="F2C1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05840" y="56235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Pintura, jardineria, ceràmica, manualitats — activitats que potencien autonomia, autoestima i sentit de pertinença.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6547104"/>
            <a:ext cx="11094415" cy="10973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647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 MARIA</a:t>
            </a:r>
            <a:pPr indent="0" marL="0">
              <a:buNone/>
            </a:pPr>
            <a:r>
              <a:rPr lang="en-US" sz="800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Fundació · Sitges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637215" y="66476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pPr indent="0" marL="0">
              <a:buNone/>
            </a:pPr>
            <a:r>
              <a:rPr lang="en-US" sz="1100" b="1" spc="300" kern="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—   </a:t>
            </a:r>
            <a:pPr indent="0" marL="0">
              <a:buNone/>
            </a:pPr>
            <a:r>
              <a:rPr lang="en-US" sz="1100" b="1" spc="3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TRANSFORMACIÓ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-1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</a:t>
            </a:r>
            <a:pPr indent="0" marL="0">
              <a:buNone/>
            </a:pPr>
            <a:r>
              <a:rPr lang="en-US" sz="3600" b="1" spc="-1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projecte vital</a:t>
            </a:r>
            <a:pPr indent="0" marL="0">
              <a:buNone/>
            </a:pPr>
            <a:r>
              <a:rPr lang="en-US" sz="3600" spc="-1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 la Carla.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5303520" cy="3840480"/>
          </a:xfrm>
          <a:prstGeom prst="roundRect">
            <a:avLst>
              <a:gd name="adj" fmla="val 2857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ABANS</a:t>
            </a:r>
            <a:pPr indent="0" marL="0">
              <a:buNone/>
            </a:pPr>
            <a:r>
              <a:rPr lang="en-US" sz="1100" b="1" spc="300" kern="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—   </a:t>
            </a:r>
            <a:pPr indent="0" marL="0">
              <a:buNone/>
            </a:pPr>
            <a:r>
              <a:rPr lang="en-US" sz="1100" b="1" spc="300" kern="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3017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Aïllament social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3611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Carla vivia amb els pares, amb molt poca interacció fora del nucli familiar i sense rutines pròpies. Sentia que la seva vida no avançava.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07228" y="4023360"/>
            <a:ext cx="777240" cy="777240"/>
          </a:xfrm>
          <a:prstGeom prst="ellipse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0108" y="4206240"/>
            <a:ext cx="411480" cy="4114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45352" y="2423160"/>
            <a:ext cx="5303520" cy="3840480"/>
          </a:xfrm>
          <a:prstGeom prst="roundRect">
            <a:avLst>
              <a:gd name="adj" fmla="val 4286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611112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8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AVUI</a:t>
            </a:r>
            <a:pPr indent="0" marL="0">
              <a:buNone/>
            </a:pPr>
            <a:r>
              <a:rPr lang="en-US" sz="1100" b="1" spc="300" kern="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—   </a:t>
            </a:r>
            <a:pPr indent="0" marL="0">
              <a:buNone/>
            </a:pPr>
            <a:r>
              <a:rPr lang="en-US" sz="1100" b="1" spc="300" kern="0" dirty="0">
                <a:solidFill>
                  <a:srgbClr val="E88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2026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11112" y="3017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Vida amb propòsit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611112" y="3611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Carla és usuària del Centre Ocupacional, fa ceràmica 3 cops per setmana i ha trobat una xarxa d'amistats. Té agenda pròpia i parla del seu futur.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6547104"/>
            <a:ext cx="11094415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6647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 MARIA</a:t>
            </a:r>
            <a:pPr indent="0" marL="0">
              <a:buNone/>
            </a:pPr>
            <a:r>
              <a:rPr lang="en-US" sz="800" spc="1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Fundació · Sitges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0637215" y="66476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</a:t>
            </a:r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6858000" y="0"/>
            <a:ext cx="5333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pPr indent="0" marL="0">
              <a:buNone/>
            </a:pPr>
            <a:r>
              <a:rPr lang="en-US" sz="1100" b="1" spc="300" kern="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—   </a:t>
            </a:r>
            <a:pPr indent="0" marL="0">
              <a:buNone/>
            </a:pPr>
            <a:r>
              <a:rPr lang="en-US" sz="1100" b="1" spc="3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COL·LABORA</a:t>
            </a:r>
            <a:endParaRPr lang="en-US" sz="1100" dirty="0"/>
          </a:p>
        </p:txBody>
      </p:sp>
      <p:sp>
        <p:nvSpPr>
          <p:cNvPr id="4" name="Shape 1"/>
          <p:cNvSpPr/>
          <p:nvPr/>
        </p:nvSpPr>
        <p:spPr>
          <a:xfrm>
            <a:off x="640080" y="1463040"/>
            <a:ext cx="10911535" cy="4572000"/>
          </a:xfrm>
          <a:prstGeom prst="roundRect">
            <a:avLst>
              <a:gd name="adj" fmla="val 36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88720" y="1828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8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DONACIÓ   ·   COL·LABORA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88720" y="228600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spc="-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teu suport </a:t>
            </a:r>
            <a:pPr indent="0" marL="0">
              <a:buNone/>
            </a:pPr>
            <a:r>
              <a:rPr lang="en-US" sz="4400" b="1" spc="-100" kern="0" dirty="0">
                <a:solidFill>
                  <a:srgbClr val="E88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multiplica</a:t>
            </a:r>
            <a:pPr indent="0" marL="0">
              <a:buNone/>
            </a:pPr>
            <a:r>
              <a:rPr lang="en-US" sz="4400" spc="-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la nostra capacitat d'acompanyar.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188720" y="484632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donació mensual de 10 € permet oferir una hora setmanal d'activitat terapèutica a una persona usuària.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188720" y="5577840"/>
            <a:ext cx="2560320" cy="411480"/>
          </a:xfrm>
          <a:prstGeom prst="roundRect">
            <a:avLst>
              <a:gd name="adj" fmla="val 111111"/>
            </a:avLst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88720" y="5577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FES UN DONATIU →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6547104"/>
            <a:ext cx="11094415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6647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 MARIA</a:t>
            </a:r>
            <a:pPr indent="0" marL="0">
              <a:buNone/>
            </a:pPr>
            <a:r>
              <a:rPr lang="en-US" sz="800" spc="1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Fundació · Sitges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0637215" y="66476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</a:t>
            </a:r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1828800"/>
            <a:ext cx="121916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0" spc="-5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Grà</a:t>
            </a:r>
            <a:pPr algn="ctr" indent="0" marL="0">
              <a:buNone/>
            </a:pPr>
            <a:r>
              <a:rPr lang="en-US" sz="20000" b="1" spc="-5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cies</a:t>
            </a:r>
            <a:pPr algn="ctr" indent="0" marL="0">
              <a:buNone/>
            </a:pPr>
            <a:r>
              <a:rPr lang="en-US" sz="20000" b="1" spc="-500" kern="0" dirty="0">
                <a:solidFill>
                  <a:srgbClr val="E88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20000" dirty="0"/>
          </a:p>
        </p:txBody>
      </p:sp>
      <p:sp>
        <p:nvSpPr>
          <p:cNvPr id="4" name="Shape 1"/>
          <p:cNvSpPr/>
          <p:nvPr/>
        </p:nvSpPr>
        <p:spPr>
          <a:xfrm>
            <a:off x="5867248" y="4434840"/>
            <a:ext cx="457200" cy="22860"/>
          </a:xfrm>
          <a:prstGeom prst="rect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0" y="4709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 la teva atenció. Per voler caminar amb nosaltres.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6547104"/>
            <a:ext cx="11094415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647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 MARIA</a:t>
            </a:r>
            <a:pPr indent="0" marL="0">
              <a:buNone/>
            </a:pPr>
            <a:r>
              <a:rPr lang="en-US" sz="800" spc="1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Fundació · Sitges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637215" y="66476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pPr indent="0" marL="0">
              <a:buNone/>
            </a:pPr>
            <a:r>
              <a:rPr lang="en-US" sz="1100" b="1" spc="300" kern="0" dirty="0">
                <a:solidFill>
                  <a:srgbClr val="CCCC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—   </a:t>
            </a:r>
            <a:pPr indent="0" marL="0">
              <a:buNone/>
            </a:pPr>
            <a:r>
              <a:rPr lang="en-US" sz="1100" b="1" spc="300" kern="0" dirty="0">
                <a:solidFill>
                  <a:srgbClr val="B8651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CONTACTE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spc="-100" kern="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Parlem</a:t>
            </a:r>
            <a:pPr indent="0" marL="0">
              <a:buNone/>
            </a:pPr>
            <a:r>
              <a:rPr lang="en-US" sz="5600" b="1" spc="-100" kern="0" dirty="0">
                <a:solidFill>
                  <a:srgbClr val="E886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586588" y="26060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8068" y="3017520"/>
            <a:ext cx="457200" cy="45720"/>
          </a:xfrm>
          <a:prstGeom prst="rect">
            <a:avLst/>
          </a:prstGeom>
          <a:solidFill>
            <a:srgbClr val="E8863A"/>
          </a:solidFill>
          <a:ln w="12700">
            <a:solidFill>
              <a:srgbClr val="E8863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068" y="324612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8068" y="3931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 som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98068" y="448056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Carrer de la Fundació, 1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08870 Sitges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Garraf, Catalunya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35628" y="26060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47108" y="3017520"/>
            <a:ext cx="457200" cy="45720"/>
          </a:xfrm>
          <a:prstGeom prst="rect">
            <a:avLst/>
          </a:prstGeom>
          <a:solidFill>
            <a:srgbClr val="E85D75"/>
          </a:solidFill>
          <a:ln w="12700">
            <a:solidFill>
              <a:srgbClr val="E85D7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108" y="32461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47108" y="3931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Truca'ns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747108" y="448056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+34 938 945 000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Dl-Dv · 9-14h i 16-18h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84668" y="26060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96148" y="3017520"/>
            <a:ext cx="457200" cy="45720"/>
          </a:xfrm>
          <a:prstGeom prst="rect">
            <a:avLst/>
          </a:prstGeom>
          <a:solidFill>
            <a:srgbClr val="2D936C"/>
          </a:solidFill>
          <a:ln w="12700">
            <a:solidFill>
              <a:srgbClr val="2D936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148" y="324612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96148" y="39319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Escriu-nos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96148" y="4480560"/>
            <a:ext cx="2697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info@avemaria.cat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donacions@avemaria.cat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voluntariat@avemaria.cat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61264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6666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AVEMARIA.CAT  ·  @FUNDACIOAVEMARIA  ·  /AVEMARIASITGES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6547104"/>
            <a:ext cx="11094415" cy="10973"/>
          </a:xfrm>
          <a:prstGeom prst="rect">
            <a:avLst/>
          </a:prstGeom>
          <a:solidFill>
            <a:srgbClr val="E5E5E5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48640" y="6647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 MARIA</a:t>
            </a:r>
            <a:pPr indent="0" marL="0">
              <a:buNone/>
            </a:pPr>
            <a:r>
              <a:rPr lang="en-US" sz="800" spc="100" kern="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Fundació · Sitges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10637215" y="66476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Fundació Ave Maria · Sitges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mestra · Fundació Ave Maria</dc:title>
  <dc:subject>Plantilla editorial reutilitzable · Brand Guidelines v2.0 · WCAG 2.2 AA</dc:subject>
  <dc:creator>Fundació Ave Maria</dc:creator>
  <cp:lastModifiedBy>Fundació Ave Maria</cp:lastModifiedBy>
  <cp:revision>1</cp:revision>
  <dcterms:created xsi:type="dcterms:W3CDTF">2026-04-28T15:43:01Z</dcterms:created>
  <dcterms:modified xsi:type="dcterms:W3CDTF">2026-04-28T15:43:01Z</dcterms:modified>
</cp:coreProperties>
</file>